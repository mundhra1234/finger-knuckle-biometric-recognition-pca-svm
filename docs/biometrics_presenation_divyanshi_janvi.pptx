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80" r:id="rId2"/>
    <p:sldId id="260" r:id="rId3"/>
    <p:sldId id="278" r:id="rId4"/>
    <p:sldId id="287" r:id="rId5"/>
    <p:sldId id="288" r:id="rId6"/>
    <p:sldId id="289" r:id="rId7"/>
    <p:sldId id="282" r:id="rId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hI2zLJbBorCa+P19c3mKKKhhr2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DDB35B-8D63-49F4-A8AA-BDF10EEED22A}" v="57" dt="2024-07-03T11:45:37.1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152" autoAdjust="0"/>
    <p:restoredTop sz="94660"/>
  </p:normalViewPr>
  <p:slideViewPr>
    <p:cSldViewPr snapToGrid="0">
      <p:cViewPr>
        <p:scale>
          <a:sx n="100" d="100"/>
          <a:sy n="100" d="100"/>
        </p:scale>
        <p:origin x="-970" y="-62"/>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25"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 Target="slides/slide4.xml"/><Relationship Id="rId2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22" Type="http://customschemas.google.com/relationships/presentationmetadata" Target="meta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b992af582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86" name="Google Shape;86;gb992af582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6</a:t>
            </a:fld>
            <a:endParaRPr lang="en-IN"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9"/>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Noto Sans Symbols"/>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Noto Sans Symbols"/>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Noto Sans Symbols"/>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Noto Sans Symbols"/>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Noto Sans Symbols"/>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extLst>
      <p:ext uri="{BB962C8B-B14F-4D97-AF65-F5344CB8AC3E}">
        <p14:creationId xmlns="" xmlns:p14="http://schemas.microsoft.com/office/powerpoint/2010/main" val="3321405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05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888888"/>
                </a:solidFill>
                <a:latin typeface="Calibri"/>
                <a:ea typeface="Calibri"/>
                <a:cs typeface="Calibri"/>
                <a:sym typeface="Calibri"/>
              </a:defRPr>
            </a:lvl1pPr>
            <a:lvl2pPr marL="0" marR="0" lvl="1" indent="0" algn="r" rtl="0">
              <a:spcBef>
                <a:spcPts val="0"/>
              </a:spcBef>
              <a:buNone/>
              <a:defRPr sz="1050" b="0" i="0" u="none" strike="noStrike" cap="none">
                <a:solidFill>
                  <a:srgbClr val="888888"/>
                </a:solidFill>
                <a:latin typeface="Calibri"/>
                <a:ea typeface="Calibri"/>
                <a:cs typeface="Calibri"/>
                <a:sym typeface="Calibri"/>
              </a:defRPr>
            </a:lvl2pPr>
            <a:lvl3pPr marL="0" marR="0" lvl="2" indent="0" algn="r" rtl="0">
              <a:spcBef>
                <a:spcPts val="0"/>
              </a:spcBef>
              <a:buNone/>
              <a:defRPr sz="1050" b="0" i="0" u="none" strike="noStrike" cap="none">
                <a:solidFill>
                  <a:srgbClr val="888888"/>
                </a:solidFill>
                <a:latin typeface="Calibri"/>
                <a:ea typeface="Calibri"/>
                <a:cs typeface="Calibri"/>
                <a:sym typeface="Calibri"/>
              </a:defRPr>
            </a:lvl3pPr>
            <a:lvl4pPr marL="0" marR="0" lvl="3" indent="0" algn="r" rtl="0">
              <a:spcBef>
                <a:spcPts val="0"/>
              </a:spcBef>
              <a:buNone/>
              <a:defRPr sz="1050" b="0" i="0" u="none" strike="noStrike" cap="none">
                <a:solidFill>
                  <a:srgbClr val="888888"/>
                </a:solidFill>
                <a:latin typeface="Calibri"/>
                <a:ea typeface="Calibri"/>
                <a:cs typeface="Calibri"/>
                <a:sym typeface="Calibri"/>
              </a:defRPr>
            </a:lvl4pPr>
            <a:lvl5pPr marL="0" marR="0" lvl="4" indent="0" algn="r" rtl="0">
              <a:spcBef>
                <a:spcPts val="0"/>
              </a:spcBef>
              <a:buNone/>
              <a:defRPr sz="1050" b="0" i="0" u="none" strike="noStrike" cap="none">
                <a:solidFill>
                  <a:srgbClr val="888888"/>
                </a:solidFill>
                <a:latin typeface="Calibri"/>
                <a:ea typeface="Calibri"/>
                <a:cs typeface="Calibri"/>
                <a:sym typeface="Calibri"/>
              </a:defRPr>
            </a:lvl5pPr>
            <a:lvl6pPr marL="0" marR="0" lvl="5" indent="0" algn="r" rtl="0">
              <a:spcBef>
                <a:spcPts val="0"/>
              </a:spcBef>
              <a:buNone/>
              <a:defRPr sz="1050" b="0" i="0" u="none" strike="noStrike" cap="none">
                <a:solidFill>
                  <a:srgbClr val="888888"/>
                </a:solidFill>
                <a:latin typeface="Calibri"/>
                <a:ea typeface="Calibri"/>
                <a:cs typeface="Calibri"/>
                <a:sym typeface="Calibri"/>
              </a:defRPr>
            </a:lvl6pPr>
            <a:lvl7pPr marL="0" marR="0" lvl="6" indent="0" algn="r" rtl="0">
              <a:spcBef>
                <a:spcPts val="0"/>
              </a:spcBef>
              <a:buNone/>
              <a:defRPr sz="1050" b="0" i="0" u="none" strike="noStrike" cap="none">
                <a:solidFill>
                  <a:srgbClr val="888888"/>
                </a:solidFill>
                <a:latin typeface="Calibri"/>
                <a:ea typeface="Calibri"/>
                <a:cs typeface="Calibri"/>
                <a:sym typeface="Calibri"/>
              </a:defRPr>
            </a:lvl7pPr>
            <a:lvl8pPr marL="0" marR="0" lvl="7" indent="0" algn="r" rtl="0">
              <a:spcBef>
                <a:spcPts val="0"/>
              </a:spcBef>
              <a:buNone/>
              <a:defRPr sz="1050" b="0" i="0" u="none" strike="noStrike" cap="none">
                <a:solidFill>
                  <a:srgbClr val="888888"/>
                </a:solidFill>
                <a:latin typeface="Calibri"/>
                <a:ea typeface="Calibri"/>
                <a:cs typeface="Calibri"/>
                <a:sym typeface="Calibri"/>
              </a:defRPr>
            </a:lvl8pPr>
            <a:lvl9pPr marL="0" marR="0" lvl="8" indent="0" algn="r" rtl="0">
              <a:spcBef>
                <a:spcPts val="0"/>
              </a:spcBef>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b992af5822_0_0"/>
          <p:cNvSpPr txBox="1">
            <a:spLocks noGrp="1"/>
          </p:cNvSpPr>
          <p:nvPr>
            <p:ph type="ctrTitle"/>
          </p:nvPr>
        </p:nvSpPr>
        <p:spPr>
          <a:xfrm>
            <a:off x="177057" y="1419226"/>
            <a:ext cx="8766918" cy="4867274"/>
          </a:xfrm>
          <a:prstGeom prst="rect">
            <a:avLst/>
          </a:prstGeom>
          <a:noFill/>
          <a:ln>
            <a:noFill/>
          </a:ln>
        </p:spPr>
        <p:txBody>
          <a:bodyPr spcFirstLastPara="1" wrap="square" lIns="91425" tIns="45700" rIns="91425" bIns="45700" anchor="ctr" anchorCtr="0">
            <a:noAutofit/>
          </a:bodyPr>
          <a:lstStyle/>
          <a:p>
            <a:pPr>
              <a:buSzPts val="3600"/>
            </a:pPr>
            <a:r>
              <a:rPr lang="en-US" dirty="0" smtClean="0"/>
              <a:t>Finger Knuckle Identification Using PCA and </a:t>
            </a:r>
            <a:r>
              <a:rPr lang="en-US" dirty="0" smtClean="0"/>
              <a:t>SVM</a:t>
            </a:r>
            <a:r>
              <a:rPr lang="en-IN" b="0" dirty="0">
                <a:latin typeface="Times New Roman" panose="02020603050405020304" pitchFamily="18" charset="0"/>
                <a:cs typeface="Times New Roman" panose="02020603050405020304" pitchFamily="18" charset="0"/>
              </a:rPr>
              <a:t/>
            </a:r>
            <a:br>
              <a:rPr lang="en-IN" b="0" dirty="0">
                <a:latin typeface="Times New Roman" panose="02020603050405020304" pitchFamily="18" charset="0"/>
                <a:cs typeface="Times New Roman" panose="02020603050405020304" pitchFamily="18" charset="0"/>
              </a:rPr>
            </a:br>
            <a:r>
              <a:rPr lang="en-IN" dirty="0"/>
              <a:t/>
            </a:r>
            <a:br>
              <a:rPr lang="en-IN" dirty="0"/>
            </a:br>
            <a:r>
              <a:rPr lang="en-IN" sz="2500" dirty="0">
                <a:latin typeface="Times New Roman" panose="02020603050405020304" pitchFamily="18" charset="0"/>
                <a:cs typeface="Times New Roman" panose="02020603050405020304" pitchFamily="18" charset="0"/>
              </a:rPr>
              <a:t>Course: Biometrics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Batch: AI&amp;DS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Academic Year: 2024-25</a:t>
            </a:r>
            <a:r>
              <a:rPr lang="en-IN" dirty="0"/>
              <a:t/>
            </a:r>
            <a:br>
              <a:rPr lang="en-IN" dirty="0"/>
            </a:br>
            <a:r>
              <a:rPr lang="en-IN" dirty="0"/>
              <a:t/>
            </a:r>
            <a:br>
              <a:rPr lang="en-IN" dirty="0"/>
            </a:br>
            <a:r>
              <a:rPr lang="en-IN" sz="2500" dirty="0">
                <a:latin typeface="Times New Roman" panose="02020603050405020304" pitchFamily="18" charset="0"/>
                <a:cs typeface="Times New Roman" panose="02020603050405020304" pitchFamily="18" charset="0"/>
              </a:rPr>
              <a:t>Presented by- </a:t>
            </a:r>
            <a:br>
              <a:rPr lang="en-IN" sz="2500" dirty="0">
                <a:latin typeface="Times New Roman" panose="02020603050405020304" pitchFamily="18" charset="0"/>
                <a:cs typeface="Times New Roman" panose="02020603050405020304" pitchFamily="18" charset="0"/>
              </a:rPr>
            </a:br>
            <a:r>
              <a:rPr lang="en-US" sz="2500" b="0" dirty="0" err="1" smtClean="0">
                <a:latin typeface="Times New Roman" pitchFamily="18" charset="0"/>
                <a:cs typeface="Times New Roman" pitchFamily="18" charset="0"/>
              </a:rPr>
              <a:t>Janvi</a:t>
            </a:r>
            <a:r>
              <a:rPr lang="en-US" sz="2500" b="0" dirty="0" smtClean="0">
                <a:latin typeface="Times New Roman" pitchFamily="18" charset="0"/>
                <a:cs typeface="Times New Roman" pitchFamily="18" charset="0"/>
              </a:rPr>
              <a:t> </a:t>
            </a:r>
            <a:r>
              <a:rPr lang="en-US" sz="2500" b="0" dirty="0" err="1" smtClean="0">
                <a:latin typeface="Times New Roman" pitchFamily="18" charset="0"/>
                <a:cs typeface="Times New Roman" pitchFamily="18" charset="0"/>
              </a:rPr>
              <a:t>Porwal</a:t>
            </a:r>
            <a:r>
              <a:rPr lang="en-US" sz="2500" b="0" dirty="0" smtClean="0">
                <a:latin typeface="Times New Roman" pitchFamily="18" charset="0"/>
                <a:cs typeface="Times New Roman" pitchFamily="18" charset="0"/>
              </a:rPr>
              <a:t>, </a:t>
            </a:r>
            <a:r>
              <a:rPr lang="en-US" sz="2500" b="0" dirty="0" err="1" smtClean="0">
                <a:latin typeface="Times New Roman" pitchFamily="18" charset="0"/>
                <a:cs typeface="Times New Roman" pitchFamily="18" charset="0"/>
              </a:rPr>
              <a:t>Divyanshi</a:t>
            </a:r>
            <a:r>
              <a:rPr lang="en-US" sz="2500" b="0" dirty="0" smtClean="0">
                <a:latin typeface="Times New Roman" pitchFamily="18" charset="0"/>
                <a:cs typeface="Times New Roman" pitchFamily="18" charset="0"/>
              </a:rPr>
              <a:t> </a:t>
            </a:r>
            <a:r>
              <a:rPr lang="en-US" sz="2500" b="0" dirty="0" err="1" smtClean="0">
                <a:latin typeface="Times New Roman" pitchFamily="18" charset="0"/>
                <a:cs typeface="Times New Roman" pitchFamily="18" charset="0"/>
              </a:rPr>
              <a:t>Mundhra</a:t>
            </a:r>
            <a:r>
              <a:rPr lang="en-IN" b="1" i="0" u="none" strike="noStrike" cap="none" dirty="0">
                <a:solidFill>
                  <a:schemeClr val="dk1"/>
                </a:solidFill>
                <a:latin typeface="Calibri"/>
                <a:ea typeface="Calibri"/>
                <a:cs typeface="Calibri"/>
                <a:sym typeface="Calibri"/>
              </a:rPr>
              <a:t/>
            </a:r>
            <a:br>
              <a:rPr lang="en-IN" b="1" i="0" u="none" strike="noStrike" cap="none" dirty="0">
                <a:solidFill>
                  <a:schemeClr val="dk1"/>
                </a:solidFill>
                <a:latin typeface="Calibri"/>
                <a:ea typeface="Calibri"/>
                <a:cs typeface="Calibri"/>
                <a:sym typeface="Calibri"/>
              </a:rPr>
            </a:br>
            <a:endParaRPr b="1" i="0" u="none" strike="noStrike" cap="none" dirty="0">
              <a:solidFill>
                <a:schemeClr val="dk1"/>
              </a:solidFill>
              <a:latin typeface="Calibri"/>
              <a:ea typeface="Calibri"/>
              <a:cs typeface="Calibri"/>
              <a:sym typeface="Calibri"/>
            </a:endParaRPr>
          </a:p>
        </p:txBody>
      </p:sp>
      <p:sp>
        <p:nvSpPr>
          <p:cNvPr id="91" name="Google Shape;91;gb992af5822_0_0"/>
          <p:cNvSpPr txBox="1">
            <a:spLocks noGrp="1"/>
          </p:cNvSpPr>
          <p:nvPr>
            <p:ph type="sldNum" idx="12"/>
          </p:nvPr>
        </p:nvSpPr>
        <p:spPr>
          <a:xfrm>
            <a:off x="6553200" y="6373546"/>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pPr marL="0" lvl="0" indent="0" algn="r" rtl="0">
                <a:spcBef>
                  <a:spcPts val="0"/>
                </a:spcBef>
                <a:spcAft>
                  <a:spcPts val="0"/>
                </a:spcAft>
                <a:buClr>
                  <a:srgbClr val="000000"/>
                </a:buClr>
                <a:buFont typeface="Arial"/>
                <a:buNone/>
              </a:p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5E7080-71AA-8ABE-31E7-02AEAF923539}"/>
              </a:ext>
            </a:extLst>
          </p:cNvPr>
          <p:cNvSpPr>
            <a:spLocks noGrp="1"/>
          </p:cNvSpPr>
          <p:nvPr>
            <p:ph type="title"/>
          </p:nvPr>
        </p:nvSpPr>
        <p:spPr>
          <a:xfrm>
            <a:off x="400245" y="1009512"/>
            <a:ext cx="8229600" cy="914400"/>
          </a:xfrm>
        </p:spPr>
        <p:txBody>
          <a:bodyPr>
            <a:normAutofit/>
          </a:bodyPr>
          <a:lstStyle/>
          <a:p>
            <a:r>
              <a:rPr lang="en-US" sz="3500" b="0" dirty="0" smtClean="0">
                <a:latin typeface="Times New Roman" pitchFamily="18" charset="0"/>
                <a:cs typeface="Times New Roman" pitchFamily="18" charset="0"/>
              </a:rPr>
              <a:t>Project Overview</a:t>
            </a:r>
            <a:endParaRPr lang="en-US" sz="3500" b="0" dirty="0">
              <a:latin typeface="Times New Roman" pitchFamily="18" charset="0"/>
              <a:cs typeface="Times New Roman" pitchFamily="18" charset="0"/>
            </a:endParaRPr>
          </a:p>
        </p:txBody>
      </p:sp>
      <p:sp>
        <p:nvSpPr>
          <p:cNvPr id="4" name="Slide Number Placeholder 3">
            <a:extLst>
              <a:ext uri="{FF2B5EF4-FFF2-40B4-BE49-F238E27FC236}">
                <a16:creationId xmlns="" xmlns:a16="http://schemas.microsoft.com/office/drawing/2014/main" id="{641DCBEA-6606-EEDA-7C39-567597CCC5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2</a:t>
            </a:fld>
            <a:endParaRPr lang="en-IN"/>
          </a:p>
        </p:txBody>
      </p:sp>
      <p:sp>
        <p:nvSpPr>
          <p:cNvPr id="5" name="Rectangle 1">
            <a:extLst>
              <a:ext uri="{FF2B5EF4-FFF2-40B4-BE49-F238E27FC236}">
                <a16:creationId xmlns="" xmlns:a16="http://schemas.microsoft.com/office/drawing/2014/main" id="{94AA0F5F-5FC2-9C2E-8492-D4CDBE356356}"/>
              </a:ext>
            </a:extLst>
          </p:cNvPr>
          <p:cNvSpPr>
            <a:spLocks noGrp="1" noChangeArrowheads="1"/>
          </p:cNvSpPr>
          <p:nvPr>
            <p:ph type="body" idx="1"/>
          </p:nvPr>
        </p:nvSpPr>
        <p:spPr bwMode="auto">
          <a:xfrm>
            <a:off x="357013" y="1907318"/>
            <a:ext cx="4184507" cy="397031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ClrTx/>
              <a:buSzTx/>
              <a:buNone/>
            </a:pPr>
            <a:r>
              <a:rPr lang="en-US" sz="1400" dirty="0" smtClean="0">
                <a:latin typeface="Times New Roman" pitchFamily="18" charset="0"/>
                <a:cs typeface="Times New Roman" pitchFamily="18" charset="0"/>
              </a:rPr>
              <a:t>This project presents a contactless and reliable biometric recognition system based on finger-knuckle prints (FKP). Unlike traditional methods such as fingerprint or face recognition, the knuckle region provides unique, stable patterns that remain consistent over time and are less affected by environmental factors. </a:t>
            </a:r>
          </a:p>
          <a:p>
            <a:pPr marL="0" lvl="0" indent="0" algn="just" eaLnBrk="0" fontAlgn="base" hangingPunct="0">
              <a:spcBef>
                <a:spcPct val="0"/>
              </a:spcBef>
              <a:spcAft>
                <a:spcPct val="0"/>
              </a:spcAft>
              <a:buClrTx/>
              <a:buSzTx/>
              <a:buNone/>
            </a:pPr>
            <a:r>
              <a:rPr lang="en-US" sz="1400" dirty="0" smtClean="0">
                <a:latin typeface="Times New Roman" pitchFamily="18" charset="0"/>
                <a:cs typeface="Times New Roman" pitchFamily="18" charset="0"/>
              </a:rPr>
              <a:t>The project focuses on creating an interpretable, lightweight, and efficient recognition pipeline using Principal Component Analysis (PCA) and Support Vector Machine (SVM).</a:t>
            </a:r>
          </a:p>
          <a:p>
            <a:pPr marL="0" lvl="0" indent="0" algn="just" eaLnBrk="0" fontAlgn="base" hangingPunct="0">
              <a:spcBef>
                <a:spcPct val="0"/>
              </a:spcBef>
              <a:spcAft>
                <a:spcPct val="0"/>
              </a:spcAft>
              <a:buClrTx/>
              <a:buSzTx/>
              <a:buNone/>
            </a:pPr>
            <a:r>
              <a:rPr lang="en-US" sz="1400" dirty="0" smtClean="0">
                <a:latin typeface="Times New Roman" pitchFamily="18" charset="0"/>
                <a:cs typeface="Times New Roman" pitchFamily="18" charset="0"/>
              </a:rPr>
              <a:t> The model is tested on publicly available datasets </a:t>
            </a:r>
            <a:r>
              <a:rPr lang="en-US" sz="1400" dirty="0" smtClean="0">
                <a:latin typeface="Times New Roman" pitchFamily="18" charset="0"/>
                <a:cs typeface="Times New Roman" pitchFamily="18" charset="0"/>
              </a:rPr>
              <a:t>which is</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PolyU</a:t>
            </a:r>
            <a:r>
              <a:rPr lang="en-US" sz="1400" dirty="0" smtClean="0">
                <a:latin typeface="Times New Roman" pitchFamily="18" charset="0"/>
                <a:cs typeface="Times New Roman" pitchFamily="18" charset="0"/>
              </a:rPr>
              <a:t> </a:t>
            </a:r>
            <a:r>
              <a:rPr lang="en-US" sz="1400" dirty="0" smtClean="0">
                <a:latin typeface="Times New Roman" pitchFamily="18" charset="0"/>
                <a:cs typeface="Times New Roman" pitchFamily="18" charset="0"/>
              </a:rPr>
              <a:t>FKP a </a:t>
            </a:r>
            <a:r>
              <a:rPr lang="en-US" sz="1400" dirty="0" smtClean="0">
                <a:latin typeface="Times New Roman" pitchFamily="18" charset="0"/>
                <a:cs typeface="Times New Roman" pitchFamily="18" charset="0"/>
              </a:rPr>
              <a:t>small custom dataset to achieve high accuracy with minimal computational resources.</a:t>
            </a:r>
          </a:p>
          <a:p>
            <a:pPr marL="0" lvl="0" indent="0" algn="just" eaLnBrk="0" fontAlgn="base" hangingPunct="0">
              <a:spcBef>
                <a:spcPct val="0"/>
              </a:spcBef>
              <a:spcAft>
                <a:spcPct val="0"/>
              </a:spcAft>
              <a:buClrTx/>
              <a:buSzTx/>
              <a:buNone/>
            </a:pPr>
            <a:r>
              <a:rPr lang="en-US" sz="1400" dirty="0" smtClean="0">
                <a:latin typeface="Times New Roman" pitchFamily="18" charset="0"/>
                <a:cs typeface="Times New Roman" pitchFamily="18" charset="0"/>
              </a:rPr>
              <a:t>The main objective of this project is to develop a robust, contactless, and interpretable biometric recognition system that accurately identifies individuals using their finger-knuckle patterns.</a:t>
            </a:r>
            <a:endParaRPr kumimoji="0" lang="en-US" altLang="en-US" sz="14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3" name="TextBox 2">
            <a:extLst>
              <a:ext uri="{FF2B5EF4-FFF2-40B4-BE49-F238E27FC236}">
                <a16:creationId xmlns="" xmlns:a16="http://schemas.microsoft.com/office/drawing/2014/main" id="{EDC72CD3-C57C-EBE3-0695-CCD84C8A62EA}"/>
              </a:ext>
            </a:extLst>
          </p:cNvPr>
          <p:cNvSpPr txBox="1"/>
          <p:nvPr/>
        </p:nvSpPr>
        <p:spPr>
          <a:xfrm>
            <a:off x="4788002" y="1891091"/>
            <a:ext cx="3917848" cy="3754874"/>
          </a:xfrm>
          <a:prstGeom prst="rect">
            <a:avLst/>
          </a:prstGeom>
          <a:noFill/>
        </p:spPr>
        <p:txBody>
          <a:bodyPr wrap="square" rtlCol="0">
            <a:spAutoFit/>
          </a:bodyPr>
          <a:lstStyle/>
          <a:p>
            <a:r>
              <a:rPr lang="en-US" dirty="0" smtClean="0">
                <a:latin typeface="Times New Roman" pitchFamily="18" charset="0"/>
                <a:cs typeface="Times New Roman" pitchFamily="18" charset="0"/>
              </a:rPr>
              <a:t> The study aims to overcome the challenges of traditional biometrics by employing lightweight classical machine learning techniques that can operate efficiently on small datasets.</a:t>
            </a:r>
          </a:p>
          <a:p>
            <a:r>
              <a:rPr lang="en-US" dirty="0" smtClean="0">
                <a:latin typeface="Times New Roman" pitchFamily="18" charset="0"/>
                <a:cs typeface="Times New Roman" pitchFamily="18" charset="0"/>
              </a:rPr>
              <a:t> Specific objectives include: </a:t>
            </a:r>
          </a:p>
          <a:p>
            <a:r>
              <a:rPr lang="en-US" dirty="0" smtClean="0">
                <a:latin typeface="Times New Roman" pitchFamily="18" charset="0"/>
                <a:cs typeface="Times New Roman" pitchFamily="18" charset="0"/>
              </a:rPr>
              <a:t>(1) extracting discriminative texture and structural features from knuckle images</a:t>
            </a:r>
          </a:p>
          <a:p>
            <a:r>
              <a:rPr lang="en-US" dirty="0" smtClean="0">
                <a:latin typeface="Times New Roman" pitchFamily="18" charset="0"/>
                <a:cs typeface="Times New Roman" pitchFamily="18" charset="0"/>
              </a:rPr>
              <a:t>(2) using PCA for dimensionality reduction and visualization of feature </a:t>
            </a:r>
            <a:r>
              <a:rPr lang="en-US" dirty="0" err="1" smtClean="0">
                <a:latin typeface="Times New Roman" pitchFamily="18" charset="0"/>
                <a:cs typeface="Times New Roman" pitchFamily="18" charset="0"/>
              </a:rPr>
              <a:t>separability</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(3) classifying users through optimized SVM models</a:t>
            </a:r>
          </a:p>
          <a:p>
            <a:r>
              <a:rPr lang="en-US" dirty="0" smtClean="0">
                <a:latin typeface="Times New Roman" pitchFamily="18" charset="0"/>
                <a:cs typeface="Times New Roman" pitchFamily="18" charset="0"/>
              </a:rPr>
              <a:t>(4) analyzing performance before and after hyper parameter  tuning. </a:t>
            </a:r>
          </a:p>
          <a:p>
            <a:r>
              <a:rPr lang="en-US" dirty="0" smtClean="0">
                <a:latin typeface="Times New Roman" pitchFamily="18" charset="0"/>
                <a:cs typeface="Times New Roman" pitchFamily="18" charset="0"/>
              </a:rPr>
              <a:t>The overall goal is to achieve high accuracy, low latency, and improved </a:t>
            </a:r>
            <a:r>
              <a:rPr lang="en-US" dirty="0" err="1" smtClean="0">
                <a:latin typeface="Times New Roman" pitchFamily="18" charset="0"/>
                <a:cs typeface="Times New Roman" pitchFamily="18" charset="0"/>
              </a:rPr>
              <a:t>explainability</a:t>
            </a:r>
            <a:r>
              <a:rPr lang="en-US" dirty="0" smtClean="0">
                <a:latin typeface="Times New Roman" pitchFamily="18" charset="0"/>
                <a:cs typeface="Times New Roman" pitchFamily="18" charset="0"/>
              </a:rPr>
              <a:t> suitable for real-time applications.</a:t>
            </a:r>
          </a:p>
          <a:p>
            <a:endParaRPr lang="en-IN" dirty="0">
              <a:latin typeface="Times New Roman" pitchFamily="18" charset="0"/>
              <a:cs typeface="Times New Roman" pitchFamily="18" charset="0"/>
            </a:endParaRPr>
          </a:p>
        </p:txBody>
      </p:sp>
    </p:spTree>
    <p:extLst>
      <p:ext uri="{BB962C8B-B14F-4D97-AF65-F5344CB8AC3E}">
        <p14:creationId xmlns="" xmlns:p14="http://schemas.microsoft.com/office/powerpoint/2010/main" val="9865509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B72EF5AA-A72E-887A-2C4B-8214F9AA62C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3</a:t>
            </a:fld>
            <a:endParaRPr lang="en-IN"/>
          </a:p>
        </p:txBody>
      </p:sp>
      <p:sp>
        <p:nvSpPr>
          <p:cNvPr id="3" name="TextBox 2">
            <a:extLst>
              <a:ext uri="{FF2B5EF4-FFF2-40B4-BE49-F238E27FC236}">
                <a16:creationId xmlns="" xmlns:a16="http://schemas.microsoft.com/office/drawing/2014/main" id="{563A739A-3A0B-7E08-C595-E952A25D0567}"/>
              </a:ext>
            </a:extLst>
          </p:cNvPr>
          <p:cNvSpPr txBox="1"/>
          <p:nvPr/>
        </p:nvSpPr>
        <p:spPr>
          <a:xfrm>
            <a:off x="123824" y="1787887"/>
            <a:ext cx="8861556" cy="338554"/>
          </a:xfrm>
          <a:prstGeom prst="rect">
            <a:avLst/>
          </a:prstGeom>
          <a:noFill/>
        </p:spPr>
        <p:txBody>
          <a:bodyPr wrap="square" numCol="2" rtlCol="0">
            <a:spAutoFit/>
          </a:bodyPr>
          <a:lstStyle/>
          <a:p>
            <a:endParaRPr lang="en-US" sz="1600" dirty="0">
              <a:latin typeface="Times New Roman" pitchFamily="18" charset="0"/>
              <a:cs typeface="Times New Roman" pitchFamily="18" charset="0"/>
            </a:endParaRPr>
          </a:p>
        </p:txBody>
      </p:sp>
      <p:sp>
        <p:nvSpPr>
          <p:cNvPr id="4" name="TextBox 3">
            <a:extLst>
              <a:ext uri="{FF2B5EF4-FFF2-40B4-BE49-F238E27FC236}">
                <a16:creationId xmlns="" xmlns:a16="http://schemas.microsoft.com/office/drawing/2014/main" id="{4D0BC46A-65A3-AE92-A7BB-1F5721F1AD26}"/>
              </a:ext>
            </a:extLst>
          </p:cNvPr>
          <p:cNvSpPr txBox="1"/>
          <p:nvPr/>
        </p:nvSpPr>
        <p:spPr>
          <a:xfrm>
            <a:off x="914400" y="1258951"/>
            <a:ext cx="7305675" cy="646331"/>
          </a:xfrm>
          <a:prstGeom prst="rect">
            <a:avLst/>
          </a:prstGeom>
          <a:noFill/>
        </p:spPr>
        <p:txBody>
          <a:bodyPr wrap="square" rtlCol="0">
            <a:spAutoFit/>
          </a:bodyPr>
          <a:lstStyle/>
          <a:p>
            <a:pPr algn="ctr"/>
            <a:r>
              <a:rPr lang="en-US" sz="3500" b="1" dirty="0" smtClean="0">
                <a:latin typeface="Times New Roman" pitchFamily="18" charset="0"/>
                <a:cs typeface="Times New Roman" pitchFamily="18" charset="0"/>
              </a:rPr>
              <a:t>System Architecture</a:t>
            </a:r>
            <a:endParaRPr lang="en-IN" sz="3500" dirty="0">
              <a:latin typeface="Times New Roman" pitchFamily="18" charset="0"/>
              <a:cs typeface="Times New Roman" pitchFamily="18" charset="0"/>
            </a:endParaRPr>
          </a:p>
        </p:txBody>
      </p:sp>
      <p:sp>
        <p:nvSpPr>
          <p:cNvPr id="5" name="TextBox 4"/>
          <p:cNvSpPr txBox="1"/>
          <p:nvPr/>
        </p:nvSpPr>
        <p:spPr>
          <a:xfrm>
            <a:off x="270588" y="2090057"/>
            <a:ext cx="8238930" cy="1815882"/>
          </a:xfrm>
          <a:prstGeom prst="rect">
            <a:avLst/>
          </a:prstGeom>
          <a:noFill/>
        </p:spPr>
        <p:txBody>
          <a:bodyPr wrap="square" rtlCol="0">
            <a:spAutoFit/>
          </a:bodyPr>
          <a:lstStyle/>
          <a:p>
            <a:r>
              <a:rPr lang="en-US" dirty="0" smtClean="0">
                <a:latin typeface="Times New Roman" pitchFamily="18" charset="0"/>
                <a:cs typeface="Times New Roman" pitchFamily="18" charset="0"/>
              </a:rPr>
              <a:t>The architecture of the proposed finger-knuckle recognition system follows a sequential and modular design that ensures accuracy and efficiency. It begins with image acquisition from various datasets, followed by preprocessing to normalize lighting and orientation. The Region of Interest (ROI) ,the dorsal knuckle area  is then extracted using adaptive  </a:t>
            </a:r>
            <a:r>
              <a:rPr lang="en-US" dirty="0" err="1" smtClean="0">
                <a:latin typeface="Times New Roman" pitchFamily="18" charset="0"/>
                <a:cs typeface="Times New Roman" pitchFamily="18" charset="0"/>
              </a:rPr>
              <a:t>thresholding</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and edge detection. Handcrafted features like Local Binary Patterns (LBP), Gabor filters, and Histogram of Oriented Gradients (HOG) are extracted </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These combined features are fed into PCA for dimensionality reduction, which enhances both performance and interpretability. Finally, the SVM classifier uses the reduced feature space to classify individuals with high precision. This architecture ensures a balance between accuracy, transparency, and computational efficiency.</a:t>
            </a:r>
            <a:endParaRPr lang="en-US" dirty="0">
              <a:latin typeface="Times New Roman" pitchFamily="18" charset="0"/>
              <a:cs typeface="Times New Roman" pitchFamily="18" charset="0"/>
            </a:endParaRPr>
          </a:p>
        </p:txBody>
      </p:sp>
      <p:sp>
        <p:nvSpPr>
          <p:cNvPr id="6" name="TextBox 5"/>
          <p:cNvSpPr txBox="1"/>
          <p:nvPr/>
        </p:nvSpPr>
        <p:spPr>
          <a:xfrm>
            <a:off x="1810139" y="3872204"/>
            <a:ext cx="5663682" cy="630942"/>
          </a:xfrm>
          <a:prstGeom prst="rect">
            <a:avLst/>
          </a:prstGeom>
          <a:noFill/>
        </p:spPr>
        <p:txBody>
          <a:bodyPr wrap="square" rtlCol="0">
            <a:spAutoFit/>
          </a:bodyPr>
          <a:lstStyle/>
          <a:p>
            <a:pPr algn="ctr"/>
            <a:r>
              <a:rPr lang="en-US" sz="3500" b="1" dirty="0" smtClean="0">
                <a:latin typeface="Times New Roman" pitchFamily="18" charset="0"/>
                <a:cs typeface="Times New Roman" pitchFamily="18" charset="0"/>
              </a:rPr>
              <a:t>Dataset Description</a:t>
            </a:r>
            <a:endParaRPr lang="en-US" sz="3500" dirty="0">
              <a:latin typeface="Times New Roman" pitchFamily="18" charset="0"/>
              <a:cs typeface="Times New Roman" pitchFamily="18" charset="0"/>
            </a:endParaRPr>
          </a:p>
        </p:txBody>
      </p:sp>
      <p:sp>
        <p:nvSpPr>
          <p:cNvPr id="7" name="TextBox 6"/>
          <p:cNvSpPr txBox="1"/>
          <p:nvPr/>
        </p:nvSpPr>
        <p:spPr>
          <a:xfrm>
            <a:off x="186612" y="4590662"/>
            <a:ext cx="3946849" cy="1600438"/>
          </a:xfrm>
          <a:prstGeom prst="rect">
            <a:avLst/>
          </a:prstGeom>
          <a:noFill/>
        </p:spPr>
        <p:txBody>
          <a:bodyPr wrap="square" rtlCol="0">
            <a:spAutoFit/>
          </a:bodyPr>
          <a:lstStyle/>
          <a:p>
            <a:pPr>
              <a:buFont typeface="Arial" pitchFamily="34" charset="0"/>
              <a:buChar char="•"/>
            </a:pPr>
            <a:r>
              <a:rPr lang="en-US" dirty="0" err="1" smtClean="0">
                <a:latin typeface="Times New Roman" pitchFamily="18" charset="0"/>
                <a:cs typeface="Times New Roman" pitchFamily="18" charset="0"/>
              </a:rPr>
              <a:t>PolyU</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FKP benchmark dataset</a:t>
            </a:r>
          </a:p>
          <a:p>
            <a:pPr>
              <a:buFont typeface="Arial" pitchFamily="34" charset="0"/>
              <a:buChar char="•"/>
            </a:pPr>
            <a:r>
              <a:rPr lang="en-US" dirty="0" smtClean="0">
                <a:latin typeface="Times New Roman" pitchFamily="18" charset="0"/>
                <a:cs typeface="Times New Roman" pitchFamily="18" charset="0"/>
              </a:rPr>
              <a:t>Image </a:t>
            </a:r>
            <a:r>
              <a:rPr lang="en-US" dirty="0" smtClean="0">
                <a:latin typeface="Times New Roman" pitchFamily="18" charset="0"/>
                <a:cs typeface="Times New Roman" pitchFamily="18" charset="0"/>
              </a:rPr>
              <a:t>sizes standardized to 128×128 pixels.</a:t>
            </a:r>
          </a:p>
          <a:p>
            <a:pPr>
              <a:buFont typeface="Arial" pitchFamily="34" charset="0"/>
              <a:buChar char="•"/>
            </a:pPr>
            <a:r>
              <a:rPr lang="en-US" dirty="0" smtClean="0">
                <a:latin typeface="Times New Roman" pitchFamily="18" charset="0"/>
                <a:cs typeface="Times New Roman" pitchFamily="18" charset="0"/>
              </a:rPr>
              <a:t>Training/testing split: 80/20 ratio.</a:t>
            </a:r>
          </a:p>
          <a:p>
            <a:pPr>
              <a:buFont typeface="Arial" pitchFamily="34" charset="0"/>
              <a:buChar char="•"/>
            </a:pPr>
            <a:r>
              <a:rPr lang="en-US" dirty="0" smtClean="0">
                <a:latin typeface="Times New Roman" pitchFamily="18" charset="0"/>
                <a:cs typeface="Times New Roman" pitchFamily="18" charset="0"/>
              </a:rPr>
              <a:t>System implemented in Python (</a:t>
            </a:r>
            <a:r>
              <a:rPr lang="en-US" dirty="0" err="1" smtClean="0">
                <a:latin typeface="Times New Roman" pitchFamily="18" charset="0"/>
                <a:cs typeface="Times New Roman" pitchFamily="18" charset="0"/>
              </a:rPr>
              <a:t>TensorFlow</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scikit</a:t>
            </a:r>
            <a:r>
              <a:rPr lang="en-US" dirty="0" smtClean="0">
                <a:latin typeface="Times New Roman" pitchFamily="18" charset="0"/>
                <a:cs typeface="Times New Roman" pitchFamily="18" charset="0"/>
              </a:rPr>
              <a:t>-learn).</a:t>
            </a:r>
          </a:p>
          <a:p>
            <a:pPr>
              <a:buFont typeface="Arial" pitchFamily="34" charset="0"/>
              <a:buChar char="•"/>
            </a:pPr>
            <a:r>
              <a:rPr lang="en-US" dirty="0" smtClean="0">
                <a:latin typeface="Times New Roman" pitchFamily="18" charset="0"/>
                <a:cs typeface="Times New Roman" pitchFamily="18" charset="0"/>
              </a:rPr>
              <a:t>Hardware: Intel i7, 16GB RAM, NVIDIA RTX 3060.</a:t>
            </a:r>
          </a:p>
        </p:txBody>
      </p:sp>
      <p:sp>
        <p:nvSpPr>
          <p:cNvPr id="8" name="TextBox 7"/>
          <p:cNvSpPr txBox="1"/>
          <p:nvPr/>
        </p:nvSpPr>
        <p:spPr>
          <a:xfrm>
            <a:off x="5141167" y="4609322"/>
            <a:ext cx="3685592" cy="1815882"/>
          </a:xfrm>
          <a:prstGeom prst="rect">
            <a:avLst/>
          </a:prstGeom>
          <a:noFill/>
        </p:spPr>
        <p:txBody>
          <a:bodyPr wrap="square" rtlCol="0">
            <a:spAutoFit/>
          </a:bodyPr>
          <a:lstStyle/>
          <a:p>
            <a:pPr>
              <a:buFont typeface="Arial" pitchFamily="34" charset="0"/>
              <a:buChar char="•"/>
            </a:pPr>
            <a:r>
              <a:rPr lang="en-US" dirty="0" smtClean="0">
                <a:latin typeface="Times New Roman" pitchFamily="18" charset="0"/>
                <a:cs typeface="Times New Roman" pitchFamily="18" charset="0"/>
              </a:rPr>
              <a:t>Optimizer: Adam; Activation: </a:t>
            </a:r>
            <a:r>
              <a:rPr lang="en-US" dirty="0" err="1" smtClean="0">
                <a:latin typeface="Times New Roman" pitchFamily="18" charset="0"/>
                <a:cs typeface="Times New Roman" pitchFamily="18" charset="0"/>
              </a:rPr>
              <a:t>ReLU</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Softmax</a:t>
            </a:r>
            <a:r>
              <a:rPr lang="en-US" dirty="0" smtClean="0">
                <a:latin typeface="Times New Roman" pitchFamily="18" charset="0"/>
                <a:cs typeface="Times New Roman" pitchFamily="18" charset="0"/>
              </a:rPr>
              <a:t>.</a:t>
            </a:r>
          </a:p>
          <a:p>
            <a:pPr>
              <a:buFont typeface="Arial" pitchFamily="34" charset="0"/>
              <a:buChar char="•"/>
            </a:pPr>
            <a:r>
              <a:rPr lang="en-US" dirty="0" smtClean="0">
                <a:latin typeface="Times New Roman" pitchFamily="18" charset="0"/>
                <a:cs typeface="Times New Roman" pitchFamily="18" charset="0"/>
              </a:rPr>
              <a:t>Epochs: 50; Batch size: 32.</a:t>
            </a:r>
          </a:p>
          <a:p>
            <a:pPr>
              <a:buFont typeface="Arial" pitchFamily="34" charset="0"/>
              <a:buChar char="•"/>
            </a:pPr>
            <a:r>
              <a:rPr lang="en-US" dirty="0" smtClean="0">
                <a:latin typeface="Times New Roman" pitchFamily="18" charset="0"/>
                <a:cs typeface="Times New Roman" pitchFamily="18" charset="0"/>
              </a:rPr>
              <a:t>Metrics: Accuracy, Precision, Recall, F1-Score.</a:t>
            </a:r>
          </a:p>
          <a:p>
            <a:pPr>
              <a:buFont typeface="Arial" pitchFamily="34" charset="0"/>
              <a:buChar char="•"/>
            </a:pPr>
            <a:r>
              <a:rPr lang="en-US" dirty="0" smtClean="0">
                <a:latin typeface="Times New Roman" pitchFamily="18" charset="0"/>
                <a:cs typeface="Times New Roman" pitchFamily="18" charset="0"/>
              </a:rPr>
              <a:t>Data augmentation applied to reduce over fitting.</a:t>
            </a:r>
          </a:p>
          <a:p>
            <a:pPr>
              <a:buFont typeface="Arial" pitchFamily="34" charset="0"/>
              <a:buChar char="•"/>
            </a:pPr>
            <a:r>
              <a:rPr lang="en-US" dirty="0" smtClean="0">
                <a:latin typeface="Times New Roman" pitchFamily="18" charset="0"/>
                <a:cs typeface="Times New Roman" pitchFamily="18" charset="0"/>
              </a:rPr>
              <a:t>PCA visualizations confirm distinct class clusters</a:t>
            </a:r>
            <a:endParaRPr lang="en-US" dirty="0"/>
          </a:p>
        </p:txBody>
      </p:sp>
    </p:spTree>
    <p:extLst>
      <p:ext uri="{BB962C8B-B14F-4D97-AF65-F5344CB8AC3E}">
        <p14:creationId xmlns="" xmlns:p14="http://schemas.microsoft.com/office/powerpoint/2010/main" val="3699959149"/>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5E7080-71AA-8ABE-31E7-02AEAF923539}"/>
              </a:ext>
            </a:extLst>
          </p:cNvPr>
          <p:cNvSpPr>
            <a:spLocks noGrp="1"/>
          </p:cNvSpPr>
          <p:nvPr>
            <p:ph type="title"/>
          </p:nvPr>
        </p:nvSpPr>
        <p:spPr>
          <a:xfrm>
            <a:off x="400245" y="1009512"/>
            <a:ext cx="8229600" cy="914400"/>
          </a:xfrm>
        </p:spPr>
        <p:txBody>
          <a:bodyPr>
            <a:normAutofit/>
          </a:bodyPr>
          <a:lstStyle/>
          <a:p>
            <a:r>
              <a:rPr lang="en-US" sz="3500" dirty="0" smtClean="0">
                <a:latin typeface="Times New Roman" pitchFamily="18" charset="0"/>
                <a:cs typeface="Times New Roman" pitchFamily="18" charset="0"/>
              </a:rPr>
              <a:t>Methodology and Process</a:t>
            </a:r>
            <a:endParaRPr lang="en-US" sz="3500" b="0" dirty="0">
              <a:latin typeface="Times New Roman" pitchFamily="18" charset="0"/>
              <a:cs typeface="Times New Roman" pitchFamily="18" charset="0"/>
            </a:endParaRPr>
          </a:p>
        </p:txBody>
      </p:sp>
      <p:sp>
        <p:nvSpPr>
          <p:cNvPr id="4" name="Slide Number Placeholder 3">
            <a:extLst>
              <a:ext uri="{FF2B5EF4-FFF2-40B4-BE49-F238E27FC236}">
                <a16:creationId xmlns="" xmlns:a16="http://schemas.microsoft.com/office/drawing/2014/main" id="{641DCBEA-6606-EEDA-7C39-567597CCC5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4</a:t>
            </a:fld>
            <a:endParaRPr lang="en-IN"/>
          </a:p>
        </p:txBody>
      </p:sp>
      <p:sp>
        <p:nvSpPr>
          <p:cNvPr id="5" name="Rectangle 1">
            <a:extLst>
              <a:ext uri="{FF2B5EF4-FFF2-40B4-BE49-F238E27FC236}">
                <a16:creationId xmlns="" xmlns:a16="http://schemas.microsoft.com/office/drawing/2014/main" id="{94AA0F5F-5FC2-9C2E-8492-D4CDBE356356}"/>
              </a:ext>
            </a:extLst>
          </p:cNvPr>
          <p:cNvSpPr>
            <a:spLocks noGrp="1" noChangeArrowheads="1"/>
          </p:cNvSpPr>
          <p:nvPr>
            <p:ph type="body" idx="1"/>
          </p:nvPr>
        </p:nvSpPr>
        <p:spPr bwMode="auto">
          <a:xfrm flipH="1">
            <a:off x="289248" y="1975900"/>
            <a:ext cx="8537509" cy="42062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sz="1400" b="1" dirty="0" smtClean="0">
                <a:latin typeface="Times New Roman" pitchFamily="18" charset="0"/>
                <a:cs typeface="Times New Roman" pitchFamily="18" charset="0"/>
              </a:rPr>
              <a:t>Image Preprocessing &amp; ROI Extraction</a:t>
            </a:r>
            <a:endParaRPr lang="en-US" sz="1400" dirty="0" smtClean="0">
              <a:latin typeface="Times New Roman" pitchFamily="18" charset="0"/>
              <a:cs typeface="Times New Roman" pitchFamily="18" charset="0"/>
            </a:endParaRPr>
          </a:p>
          <a:p>
            <a:pPr>
              <a:buFont typeface="Arial" pitchFamily="34" charset="0"/>
              <a:buChar char="•"/>
            </a:pPr>
            <a:r>
              <a:rPr lang="en-US" sz="1400" dirty="0" smtClean="0">
                <a:latin typeface="Times New Roman" pitchFamily="18" charset="0"/>
                <a:cs typeface="Times New Roman" pitchFamily="18" charset="0"/>
              </a:rPr>
              <a:t>Convert input images to grayscale to simplify computation.</a:t>
            </a:r>
          </a:p>
          <a:p>
            <a:pPr>
              <a:buFont typeface="Arial" pitchFamily="34" charset="0"/>
              <a:buChar char="•"/>
            </a:pPr>
            <a:r>
              <a:rPr lang="en-US" sz="1400" dirty="0" smtClean="0">
                <a:latin typeface="Times New Roman" pitchFamily="18" charset="0"/>
                <a:cs typeface="Times New Roman" pitchFamily="18" charset="0"/>
              </a:rPr>
              <a:t>Apply histogram equalization to improve contrast.</a:t>
            </a:r>
          </a:p>
          <a:p>
            <a:pPr>
              <a:buFont typeface="Arial" pitchFamily="34" charset="0"/>
              <a:buChar char="•"/>
            </a:pPr>
            <a:r>
              <a:rPr lang="en-US" sz="1400" dirty="0" smtClean="0">
                <a:latin typeface="Times New Roman" pitchFamily="18" charset="0"/>
                <a:cs typeface="Times New Roman" pitchFamily="18" charset="0"/>
              </a:rPr>
              <a:t>Use median and Gaussian filters to remove noise.</a:t>
            </a:r>
          </a:p>
          <a:p>
            <a:pPr>
              <a:buFont typeface="Arial" pitchFamily="34" charset="0"/>
              <a:buChar char="•"/>
            </a:pPr>
            <a:r>
              <a:rPr lang="en-US" sz="1400" dirty="0" smtClean="0">
                <a:latin typeface="Times New Roman" pitchFamily="18" charset="0"/>
                <a:cs typeface="Times New Roman" pitchFamily="18" charset="0"/>
              </a:rPr>
              <a:t>Isolate the key area using Canny edge detection to extract the Region of Interest (ROI).</a:t>
            </a:r>
          </a:p>
          <a:p>
            <a:pPr>
              <a:buNone/>
            </a:pPr>
            <a:endParaRPr lang="en-US" sz="1400" dirty="0" smtClean="0">
              <a:latin typeface="Times New Roman" pitchFamily="18" charset="0"/>
              <a:cs typeface="Times New Roman" pitchFamily="18" charset="0"/>
            </a:endParaRPr>
          </a:p>
          <a:p>
            <a:pPr>
              <a:buNone/>
            </a:pPr>
            <a:r>
              <a:rPr lang="en-US" sz="1400" b="1" dirty="0" smtClean="0">
                <a:latin typeface="Times New Roman" pitchFamily="18" charset="0"/>
                <a:cs typeface="Times New Roman" pitchFamily="18" charset="0"/>
              </a:rPr>
              <a:t>Feature Extraction</a:t>
            </a:r>
            <a:endParaRPr lang="en-US" sz="1400" dirty="0" smtClean="0">
              <a:latin typeface="Times New Roman" pitchFamily="18" charset="0"/>
              <a:cs typeface="Times New Roman" pitchFamily="18" charset="0"/>
            </a:endParaRPr>
          </a:p>
          <a:p>
            <a:pPr>
              <a:buFont typeface="Arial" pitchFamily="34" charset="0"/>
              <a:buChar char="•"/>
            </a:pPr>
            <a:r>
              <a:rPr lang="en-US" sz="1400" dirty="0" smtClean="0">
                <a:latin typeface="Times New Roman" pitchFamily="18" charset="0"/>
                <a:cs typeface="Times New Roman" pitchFamily="18" charset="0"/>
              </a:rPr>
              <a:t>Use Local Binary Patterns (LBP) to capture texture details.</a:t>
            </a:r>
          </a:p>
          <a:p>
            <a:pPr>
              <a:buFont typeface="Arial" pitchFamily="34" charset="0"/>
              <a:buChar char="•"/>
            </a:pPr>
            <a:r>
              <a:rPr lang="en-US" sz="1400" dirty="0" smtClean="0">
                <a:latin typeface="Times New Roman" pitchFamily="18" charset="0"/>
                <a:cs typeface="Times New Roman" pitchFamily="18" charset="0"/>
              </a:rPr>
              <a:t>Apply Gabor filters to detect ridge and crease patterns.</a:t>
            </a:r>
          </a:p>
          <a:p>
            <a:pPr>
              <a:buNone/>
            </a:pPr>
            <a:endParaRPr lang="en-US" sz="1400" dirty="0" smtClean="0">
              <a:latin typeface="Times New Roman" pitchFamily="18" charset="0"/>
              <a:cs typeface="Times New Roman" pitchFamily="18" charset="0"/>
            </a:endParaRPr>
          </a:p>
          <a:p>
            <a:pPr>
              <a:buNone/>
            </a:pPr>
            <a:r>
              <a:rPr lang="en-US" sz="1400" b="1" dirty="0" smtClean="0">
                <a:latin typeface="Times New Roman" pitchFamily="18" charset="0"/>
                <a:cs typeface="Times New Roman" pitchFamily="18" charset="0"/>
              </a:rPr>
              <a:t>Dimensionality Reduction &amp; Classification</a:t>
            </a:r>
            <a:endParaRPr lang="en-US" sz="1400" dirty="0" smtClean="0">
              <a:latin typeface="Times New Roman" pitchFamily="18" charset="0"/>
              <a:cs typeface="Times New Roman" pitchFamily="18" charset="0"/>
            </a:endParaRPr>
          </a:p>
          <a:p>
            <a:pPr>
              <a:buFont typeface="Arial" pitchFamily="34" charset="0"/>
              <a:buChar char="•"/>
            </a:pPr>
            <a:r>
              <a:rPr lang="en-US" sz="1400" dirty="0" smtClean="0">
                <a:latin typeface="Times New Roman" pitchFamily="18" charset="0"/>
                <a:cs typeface="Times New Roman" pitchFamily="18" charset="0"/>
              </a:rPr>
              <a:t>Apply Principal Component Analysis (PCA) to reduce the number of features, keeping only the most important ones.</a:t>
            </a:r>
          </a:p>
          <a:p>
            <a:pPr>
              <a:buFont typeface="Arial" pitchFamily="34" charset="0"/>
              <a:buChar char="•"/>
            </a:pPr>
            <a:r>
              <a:rPr lang="en-US" sz="1400" dirty="0" smtClean="0">
                <a:latin typeface="Times New Roman" pitchFamily="18" charset="0"/>
                <a:cs typeface="Times New Roman" pitchFamily="18" charset="0"/>
              </a:rPr>
              <a:t>Classify the reduced features using a Support Vector Machine (SVM) with an RBF kernel to find the optimal decision boundary.</a:t>
            </a:r>
          </a:p>
          <a:p>
            <a:pPr marL="0" lvl="0" indent="0" algn="just" eaLnBrk="0" fontAlgn="base" hangingPunct="0">
              <a:spcBef>
                <a:spcPct val="0"/>
              </a:spcBef>
              <a:spcAft>
                <a:spcPct val="0"/>
              </a:spcAft>
              <a:buClrTx/>
              <a:buSzTx/>
              <a:buNone/>
            </a:pPr>
            <a:endParaRPr kumimoji="0" lang="en-US" altLang="en-US" sz="1400" b="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 xmlns:p14="http://schemas.microsoft.com/office/powerpoint/2010/main" val="98655097"/>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6308C336-E5C3-EAF2-7B99-FC3B395BFE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5</a:t>
            </a:fld>
            <a:endParaRPr lang="en-IN"/>
          </a:p>
        </p:txBody>
      </p:sp>
      <p:sp>
        <p:nvSpPr>
          <p:cNvPr id="24" name="Rectangle 1">
            <a:extLst>
              <a:ext uri="{FF2B5EF4-FFF2-40B4-BE49-F238E27FC236}">
                <a16:creationId xmlns="" xmlns:a16="http://schemas.microsoft.com/office/drawing/2014/main" id="{62476B4B-552E-0098-B0A4-C49F04FB2A4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5" name="TextBox 34">
            <a:extLst>
              <a:ext uri="{FF2B5EF4-FFF2-40B4-BE49-F238E27FC236}">
                <a16:creationId xmlns="" xmlns:a16="http://schemas.microsoft.com/office/drawing/2014/main" id="{A7E678AB-8FB5-B8B1-F340-EF2A2396002C}"/>
              </a:ext>
            </a:extLst>
          </p:cNvPr>
          <p:cNvSpPr txBox="1"/>
          <p:nvPr/>
        </p:nvSpPr>
        <p:spPr>
          <a:xfrm>
            <a:off x="3740943" y="1023796"/>
            <a:ext cx="1514475" cy="630942"/>
          </a:xfrm>
          <a:prstGeom prst="rect">
            <a:avLst/>
          </a:prstGeom>
          <a:noFill/>
        </p:spPr>
        <p:txBody>
          <a:bodyPr wrap="square" rtlCol="0">
            <a:spAutoFit/>
          </a:bodyPr>
          <a:lstStyle/>
          <a:p>
            <a:r>
              <a:rPr lang="en-IN" sz="3500" b="0" i="0" dirty="0">
                <a:effectLst/>
                <a:latin typeface="Times New Roman" panose="02020603050405020304" pitchFamily="18" charset="0"/>
                <a:cs typeface="Times New Roman" panose="02020603050405020304" pitchFamily="18" charset="0"/>
              </a:rPr>
              <a:t>Results</a:t>
            </a:r>
            <a:endParaRPr lang="en-IN" sz="3500" dirty="0">
              <a:latin typeface="Times New Roman" panose="02020603050405020304" pitchFamily="18" charset="0"/>
              <a:cs typeface="Times New Roman" panose="02020603050405020304" pitchFamily="18" charset="0"/>
            </a:endParaRPr>
          </a:p>
        </p:txBody>
      </p:sp>
      <p:sp>
        <p:nvSpPr>
          <p:cNvPr id="3073"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pic>
        <p:nvPicPr>
          <p:cNvPr id="22530" name="Picture 2" descr="C:\Users\LENOVO\OneDrive\Pictures\Screenshots\Screenshot 2025-10-28 210241.png"/>
          <p:cNvPicPr>
            <a:picLocks noChangeAspect="1" noChangeArrowheads="1"/>
          </p:cNvPicPr>
          <p:nvPr/>
        </p:nvPicPr>
        <p:blipFill>
          <a:blip r:embed="rId2"/>
          <a:srcRect r="10157" b="-1283"/>
          <a:stretch>
            <a:fillRect/>
          </a:stretch>
        </p:blipFill>
        <p:spPr bwMode="auto">
          <a:xfrm>
            <a:off x="0" y="1786097"/>
            <a:ext cx="3356658" cy="3654004"/>
          </a:xfrm>
          <a:prstGeom prst="rect">
            <a:avLst/>
          </a:prstGeom>
          <a:noFill/>
        </p:spPr>
      </p:pic>
      <p:pic>
        <p:nvPicPr>
          <p:cNvPr id="22532" name="Picture 4" descr="C:\Users\LENOVO\OneDrive\Pictures\Screenshots\Screenshot 2025-10-25 234126.png"/>
          <p:cNvPicPr>
            <a:picLocks noChangeAspect="1" noChangeArrowheads="1"/>
          </p:cNvPicPr>
          <p:nvPr/>
        </p:nvPicPr>
        <p:blipFill>
          <a:blip r:embed="rId3"/>
          <a:srcRect l="6195" r="6716" b="3617"/>
          <a:stretch>
            <a:fillRect/>
          </a:stretch>
        </p:blipFill>
        <p:spPr bwMode="auto">
          <a:xfrm>
            <a:off x="3282373" y="2079448"/>
            <a:ext cx="5671801" cy="3245485"/>
          </a:xfrm>
          <a:prstGeom prst="rect">
            <a:avLst/>
          </a:prstGeom>
          <a:noFill/>
        </p:spPr>
      </p:pic>
    </p:spTree>
    <p:extLst>
      <p:ext uri="{BB962C8B-B14F-4D97-AF65-F5344CB8AC3E}">
        <p14:creationId xmlns="" xmlns:p14="http://schemas.microsoft.com/office/powerpoint/2010/main" val="3961492792"/>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6308C336-E5C3-EAF2-7B99-FC3B395BFE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6</a:t>
            </a:fld>
            <a:endParaRPr lang="en-IN"/>
          </a:p>
        </p:txBody>
      </p:sp>
      <p:sp>
        <p:nvSpPr>
          <p:cNvPr id="24" name="Rectangle 1">
            <a:extLst>
              <a:ext uri="{FF2B5EF4-FFF2-40B4-BE49-F238E27FC236}">
                <a16:creationId xmlns="" xmlns:a16="http://schemas.microsoft.com/office/drawing/2014/main" id="{62476B4B-552E-0098-B0A4-C49F04FB2A4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5" name="TextBox 34">
            <a:extLst>
              <a:ext uri="{FF2B5EF4-FFF2-40B4-BE49-F238E27FC236}">
                <a16:creationId xmlns="" xmlns:a16="http://schemas.microsoft.com/office/drawing/2014/main" id="{A7E678AB-8FB5-B8B1-F340-EF2A2396002C}"/>
              </a:ext>
            </a:extLst>
          </p:cNvPr>
          <p:cNvSpPr txBox="1"/>
          <p:nvPr/>
        </p:nvSpPr>
        <p:spPr>
          <a:xfrm>
            <a:off x="4076223" y="833296"/>
            <a:ext cx="1514475" cy="630942"/>
          </a:xfrm>
          <a:prstGeom prst="rect">
            <a:avLst/>
          </a:prstGeom>
          <a:noFill/>
        </p:spPr>
        <p:txBody>
          <a:bodyPr wrap="square" rtlCol="0">
            <a:spAutoFit/>
          </a:bodyPr>
          <a:lstStyle/>
          <a:p>
            <a:r>
              <a:rPr lang="en-IN" sz="3500" b="0" i="0" dirty="0">
                <a:effectLst/>
                <a:latin typeface="Times New Roman" panose="02020603050405020304" pitchFamily="18" charset="0"/>
                <a:cs typeface="Times New Roman" panose="02020603050405020304" pitchFamily="18" charset="0"/>
              </a:rPr>
              <a:t>Results</a:t>
            </a:r>
            <a:endParaRPr lang="en-IN" sz="3500" dirty="0">
              <a:latin typeface="Times New Roman" panose="02020603050405020304" pitchFamily="18" charset="0"/>
              <a:cs typeface="Times New Roman" panose="02020603050405020304" pitchFamily="18" charset="0"/>
            </a:endParaRPr>
          </a:p>
        </p:txBody>
      </p:sp>
      <p:sp>
        <p:nvSpPr>
          <p:cNvPr id="3073"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cs typeface="Arial" charset="0"/>
            </a:endParaRPr>
          </a:p>
        </p:txBody>
      </p:sp>
      <p:pic>
        <p:nvPicPr>
          <p:cNvPr id="24578" name="Picture 2" descr="C:\Users\LENOVO\OneDrive\Pictures\Screenshots\Screenshot 2025-10-28 210339.png"/>
          <p:cNvPicPr>
            <a:picLocks noChangeAspect="1" noChangeArrowheads="1"/>
          </p:cNvPicPr>
          <p:nvPr/>
        </p:nvPicPr>
        <p:blipFill>
          <a:blip r:embed="rId3"/>
          <a:srcRect l="4282" r="545"/>
          <a:stretch>
            <a:fillRect/>
          </a:stretch>
        </p:blipFill>
        <p:spPr bwMode="auto">
          <a:xfrm>
            <a:off x="1118616" y="1540715"/>
            <a:ext cx="7094220" cy="2469178"/>
          </a:xfrm>
          <a:prstGeom prst="rect">
            <a:avLst/>
          </a:prstGeom>
          <a:noFill/>
        </p:spPr>
      </p:pic>
      <p:pic>
        <p:nvPicPr>
          <p:cNvPr id="24580" name="Picture 4" descr="C:\Users\LENOVO\OneDrive\Pictures\Screenshots\Screenshot 2025-10-28 210400.png"/>
          <p:cNvPicPr>
            <a:picLocks noChangeAspect="1" noChangeArrowheads="1"/>
          </p:cNvPicPr>
          <p:nvPr/>
        </p:nvPicPr>
        <p:blipFill>
          <a:blip r:embed="rId4"/>
          <a:srcRect r="321" b="1641"/>
          <a:stretch>
            <a:fillRect/>
          </a:stretch>
        </p:blipFill>
        <p:spPr bwMode="auto">
          <a:xfrm>
            <a:off x="1033178" y="4088706"/>
            <a:ext cx="7268050" cy="2388294"/>
          </a:xfrm>
          <a:prstGeom prst="rect">
            <a:avLst/>
          </a:prstGeom>
          <a:noFill/>
        </p:spPr>
      </p:pic>
    </p:spTree>
    <p:extLst>
      <p:ext uri="{BB962C8B-B14F-4D97-AF65-F5344CB8AC3E}">
        <p14:creationId xmlns="" xmlns:p14="http://schemas.microsoft.com/office/powerpoint/2010/main" val="3961492792"/>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05D5AC02-3E08-AE3A-6020-8FAE443BD9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7</a:t>
            </a:fld>
            <a:endParaRPr lang="en-IN"/>
          </a:p>
        </p:txBody>
      </p:sp>
      <p:sp>
        <p:nvSpPr>
          <p:cNvPr id="5" name="TextBox 4">
            <a:extLst>
              <a:ext uri="{FF2B5EF4-FFF2-40B4-BE49-F238E27FC236}">
                <a16:creationId xmlns="" xmlns:a16="http://schemas.microsoft.com/office/drawing/2014/main" id="{04D3C4A8-4652-0F14-FE64-67C035452FC4}"/>
              </a:ext>
            </a:extLst>
          </p:cNvPr>
          <p:cNvSpPr txBox="1"/>
          <p:nvPr/>
        </p:nvSpPr>
        <p:spPr>
          <a:xfrm>
            <a:off x="85724" y="2126130"/>
            <a:ext cx="8972551" cy="3108543"/>
          </a:xfrm>
          <a:prstGeom prst="rect">
            <a:avLst/>
          </a:prstGeom>
          <a:noFill/>
        </p:spPr>
        <p:txBody>
          <a:bodyPr wrap="square">
            <a:spAutoFit/>
          </a:bodyPr>
          <a:lstStyle/>
          <a:p>
            <a:r>
              <a:rPr lang="en-US" b="1" dirty="0" smtClean="0"/>
              <a:t>Key Achievements &amp; </a:t>
            </a:r>
            <a:r>
              <a:rPr lang="en-US" b="1" dirty="0" smtClean="0"/>
              <a:t>Strengths</a:t>
            </a: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study successfully demonstrates that finger-knuckle biometrics serve as a strong, contactless alternative </a:t>
            </a:r>
            <a:r>
              <a:rPr lang="en-US" dirty="0" smtClean="0">
                <a:latin typeface="Times New Roman" pitchFamily="18" charset="0"/>
                <a:cs typeface="Times New Roman" pitchFamily="18" charset="0"/>
              </a:rPr>
              <a:t>t</a:t>
            </a:r>
          </a:p>
          <a:p>
            <a:r>
              <a:rPr lang="en-US" dirty="0" smtClean="0">
                <a:latin typeface="Times New Roman" pitchFamily="18" charset="0"/>
                <a:cs typeface="Times New Roman" pitchFamily="18" charset="0"/>
              </a:rPr>
              <a:t>conventional </a:t>
            </a:r>
            <a:r>
              <a:rPr lang="en-US" dirty="0" smtClean="0">
                <a:latin typeface="Times New Roman" pitchFamily="18" charset="0"/>
                <a:cs typeface="Times New Roman" pitchFamily="18" charset="0"/>
              </a:rPr>
              <a:t>biometric systems.</a:t>
            </a:r>
          </a:p>
          <a:p>
            <a:pPr>
              <a:buFont typeface="Arial" pitchFamily="34" charset="0"/>
              <a:buChar char="•"/>
            </a:pPr>
            <a:r>
              <a:rPr lang="en-US" dirty="0" smtClean="0">
                <a:latin typeface="Times New Roman" pitchFamily="18" charset="0"/>
                <a:cs typeface="Times New Roman" pitchFamily="18" charset="0"/>
              </a:rPr>
              <a:t>The integration of PCA and SVM provides a balance between interpretability, performance, and computational efficiency.</a:t>
            </a:r>
          </a:p>
          <a:p>
            <a:pPr>
              <a:buFont typeface="Arial" pitchFamily="34" charset="0"/>
              <a:buChar char="•"/>
            </a:pPr>
            <a:r>
              <a:rPr lang="en-US" dirty="0" smtClean="0">
                <a:latin typeface="Times New Roman" pitchFamily="18" charset="0"/>
                <a:cs typeface="Times New Roman" pitchFamily="18" charset="0"/>
              </a:rPr>
              <a:t>The system shows high recognition accuracy on small-scale datasets.</a:t>
            </a:r>
          </a:p>
          <a:p>
            <a:pPr>
              <a:buFont typeface="Arial" pitchFamily="34" charset="0"/>
              <a:buChar char="•"/>
            </a:pPr>
            <a:r>
              <a:rPr lang="en-US" dirty="0" smtClean="0">
                <a:latin typeface="Times New Roman" pitchFamily="18" charset="0"/>
                <a:cs typeface="Times New Roman" pitchFamily="18" charset="0"/>
              </a:rPr>
              <a:t>This makes it suitable for real-time and mobile-based security applications</a:t>
            </a:r>
            <a:r>
              <a:rPr lang="en-US" dirty="0" smtClean="0">
                <a:latin typeface="Times New Roman" pitchFamily="18" charset="0"/>
                <a:cs typeface="Times New Roman" pitchFamily="18" charset="0"/>
              </a:rPr>
              <a:t>.</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Future enhancements </a:t>
            </a:r>
            <a:r>
              <a:rPr lang="en-US" b="1" dirty="0" smtClean="0">
                <a:latin typeface="Times New Roman" pitchFamily="18" charset="0"/>
                <a:cs typeface="Times New Roman" pitchFamily="18" charset="0"/>
              </a:rPr>
              <a:t>include</a:t>
            </a:r>
          </a:p>
          <a:p>
            <a:pPr>
              <a:buFont typeface="Arial" pitchFamily="34" charset="0"/>
              <a:buChar char="•"/>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integrating multimodal biometrics, such as combining knuckle and fingerprint recognition.</a:t>
            </a:r>
          </a:p>
          <a:p>
            <a:pPr>
              <a:buFont typeface="Arial" pitchFamily="34" charset="0"/>
              <a:buChar char="•"/>
            </a:pPr>
            <a:r>
              <a:rPr lang="en-US" dirty="0" smtClean="0">
                <a:latin typeface="Times New Roman" pitchFamily="18" charset="0"/>
                <a:cs typeface="Times New Roman" pitchFamily="18" charset="0"/>
              </a:rPr>
              <a:t>Developing </a:t>
            </a:r>
            <a:r>
              <a:rPr lang="en-US" dirty="0" err="1" smtClean="0">
                <a:latin typeface="Times New Roman" pitchFamily="18" charset="0"/>
                <a:cs typeface="Times New Roman" pitchFamily="18" charset="0"/>
              </a:rPr>
              <a:t>liveness</a:t>
            </a:r>
            <a:r>
              <a:rPr lang="en-US" dirty="0" smtClean="0">
                <a:latin typeface="Times New Roman" pitchFamily="18" charset="0"/>
                <a:cs typeface="Times New Roman" pitchFamily="18" charset="0"/>
              </a:rPr>
              <a:t> detection against spoof attacks is a key future direction.</a:t>
            </a:r>
          </a:p>
          <a:p>
            <a:pPr>
              <a:buFont typeface="Arial" pitchFamily="34" charset="0"/>
              <a:buChar char="•"/>
            </a:pPr>
            <a:r>
              <a:rPr lang="en-US" dirty="0" smtClean="0">
                <a:latin typeface="Times New Roman" pitchFamily="18" charset="0"/>
                <a:cs typeface="Times New Roman" pitchFamily="18" charset="0"/>
              </a:rPr>
              <a:t>Optimizing for edge deployment using lightweight architectures like </a:t>
            </a:r>
            <a:r>
              <a:rPr lang="en-US" dirty="0" smtClean="0">
                <a:latin typeface="Times New Roman" pitchFamily="18" charset="0"/>
                <a:cs typeface="Times New Roman" pitchFamily="18" charset="0"/>
              </a:rPr>
              <a:t>Mobile Net </a:t>
            </a:r>
            <a:r>
              <a:rPr lang="en-US" dirty="0" smtClean="0">
                <a:latin typeface="Times New Roman" pitchFamily="18" charset="0"/>
                <a:cs typeface="Times New Roman" pitchFamily="18" charset="0"/>
              </a:rPr>
              <a:t>is planned.</a:t>
            </a:r>
          </a:p>
          <a:p>
            <a:pPr>
              <a:buFont typeface="Arial" pitchFamily="34" charset="0"/>
              <a:buChar char="•"/>
            </a:pPr>
            <a:r>
              <a:rPr lang="en-US" dirty="0" smtClean="0">
                <a:latin typeface="Times New Roman" pitchFamily="18" charset="0"/>
                <a:cs typeface="Times New Roman" pitchFamily="18" charset="0"/>
              </a:rPr>
              <a:t>Incorporating </a:t>
            </a:r>
            <a:r>
              <a:rPr lang="en-US" dirty="0" smtClean="0">
                <a:latin typeface="Times New Roman" pitchFamily="18" charset="0"/>
                <a:cs typeface="Times New Roman" pitchFamily="18" charset="0"/>
              </a:rPr>
              <a:t>block chain </a:t>
            </a:r>
            <a:r>
              <a:rPr lang="en-US" dirty="0" smtClean="0">
                <a:latin typeface="Times New Roman" pitchFamily="18" charset="0"/>
                <a:cs typeface="Times New Roman" pitchFamily="18" charset="0"/>
              </a:rPr>
              <a:t>for secure template storage can strengthen system security.</a:t>
            </a:r>
          </a:p>
          <a:p>
            <a:pPr>
              <a:buFont typeface="Arial" pitchFamily="34" charset="0"/>
              <a:buChar char="•"/>
            </a:pPr>
            <a:r>
              <a:rPr lang="en-US" dirty="0" smtClean="0">
                <a:latin typeface="Times New Roman" pitchFamily="18" charset="0"/>
                <a:cs typeface="Times New Roman" pitchFamily="18" charset="0"/>
              </a:rPr>
              <a:t>Exploring quantum-enhanced SVMs could further improve the system's reliability and scalability.</a:t>
            </a:r>
          </a:p>
          <a:p>
            <a:pPr algn="just"/>
            <a:endParaRPr lang="en-IN" dirty="0">
              <a:latin typeface="Times New Roman" pitchFamily="18" charset="0"/>
              <a:cs typeface="Times New Roman" pitchFamily="18" charset="0"/>
            </a:endParaRPr>
          </a:p>
        </p:txBody>
      </p:sp>
      <p:sp>
        <p:nvSpPr>
          <p:cNvPr id="3" name="TextBox 2">
            <a:extLst>
              <a:ext uri="{FF2B5EF4-FFF2-40B4-BE49-F238E27FC236}">
                <a16:creationId xmlns="" xmlns:a16="http://schemas.microsoft.com/office/drawing/2014/main" id="{356B3BBC-504D-0B6F-E122-0CD766C5DDE6}"/>
              </a:ext>
            </a:extLst>
          </p:cNvPr>
          <p:cNvSpPr txBox="1"/>
          <p:nvPr/>
        </p:nvSpPr>
        <p:spPr>
          <a:xfrm>
            <a:off x="3461145" y="1348895"/>
            <a:ext cx="2221708" cy="630942"/>
          </a:xfrm>
          <a:prstGeom prst="rect">
            <a:avLst/>
          </a:prstGeom>
          <a:noFill/>
        </p:spPr>
        <p:txBody>
          <a:bodyPr wrap="square" rtlCol="0">
            <a:spAutoFit/>
          </a:bodyPr>
          <a:lstStyle/>
          <a:p>
            <a:r>
              <a:rPr lang="en-IN" sz="3500" b="0" i="0" dirty="0">
                <a:effectLst/>
                <a:latin typeface="Times New Roman" panose="02020603050405020304" pitchFamily="18" charset="0"/>
                <a:cs typeface="Times New Roman" panose="02020603050405020304" pitchFamily="18" charset="0"/>
              </a:rPr>
              <a:t>Conclusion</a:t>
            </a:r>
            <a:endParaRPr lang="en-US" sz="3500" b="1"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85672253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999</TotalTime>
  <Words>713</Words>
  <Application>Microsoft Office PowerPoint</Application>
  <PresentationFormat>On-screen Show (4:3)</PresentationFormat>
  <Paragraphs>64</Paragraphs>
  <Slides>7</Slides>
  <Notes>2</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MPSTME</vt:lpstr>
      <vt:lpstr>Finger Knuckle Identification Using PCA and SVM  Course: Biometrics Batch: AI&amp;DS Academic Year: 2024-25  Presented by-  Janvi Porwal, Divyanshi Mundhra </vt:lpstr>
      <vt:lpstr>Project Overview</vt:lpstr>
      <vt:lpstr>Slide 3</vt:lpstr>
      <vt:lpstr>Methodology and Process</vt:lpstr>
      <vt:lpstr>Slide 5</vt:lpstr>
      <vt:lpstr>Slide 6</vt:lpstr>
      <vt:lpstr>Slide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B.Tech. / MBA Tech. (----Name of Stream----) Semester: II/IV  Course: Community Services Academic Year: 2021-22</dc:title>
  <dc:creator>Dhirendra Mishra</dc:creator>
  <cp:lastModifiedBy>LENOVO</cp:lastModifiedBy>
  <cp:revision>57</cp:revision>
  <dcterms:created xsi:type="dcterms:W3CDTF">2017-04-11T09:48:28Z</dcterms:created>
  <dcterms:modified xsi:type="dcterms:W3CDTF">2025-10-30T14:14:53Z</dcterms:modified>
</cp:coreProperties>
</file>